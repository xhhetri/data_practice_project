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f46fa080e4413" /><Relationship Type="http://schemas.openxmlformats.org/officeDocument/2006/relationships/extended-properties" Target="/docProps/app.xml" Id="R5a0774f167234d04" /><Relationship Type="http://schemas.openxmlformats.org/officeDocument/2006/relationships/officeDocument" Target="/ppt/presentation.xml" Id="Rba1c293074244f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ab107fd67460f"/>
  </p:sldMasterIdLst>
  <p:notesMasterIdLst>
    <p:notesMasterId xmlns:r="http://schemas.openxmlformats.org/officeDocument/2006/relationships" r:id="R031bc5b1d6c64003"/>
  </p:notesMasterIdLst>
  <p:sldIdLst>
    <p:sldId xmlns:r="http://schemas.openxmlformats.org/officeDocument/2006/relationships" id="256" r:id="R8d2b5c345cf8457d"/>
    <p:sldId xmlns:r="http://schemas.openxmlformats.org/officeDocument/2006/relationships" id="257" r:id="R6ca33c518c4143fa"/>
    <p:sldId xmlns:r="http://schemas.openxmlformats.org/officeDocument/2006/relationships" id="258" r:id="R14b77e82a3ec4450"/>
    <p:sldId xmlns:r="http://schemas.openxmlformats.org/officeDocument/2006/relationships" id="259" r:id="R3efa911c0b164e65"/>
    <p:sldId xmlns:r="http://schemas.openxmlformats.org/officeDocument/2006/relationships" id="260" r:id="Rc2a7b5a5bcc74030"/>
    <p:sldId xmlns:r="http://schemas.openxmlformats.org/officeDocument/2006/relationships" id="261" r:id="R0c2d7fc2f2954530"/>
    <p:sldId xmlns:r="http://schemas.openxmlformats.org/officeDocument/2006/relationships" id="262" r:id="Rb7543d5182664438"/>
    <p:sldId xmlns:r="http://schemas.openxmlformats.org/officeDocument/2006/relationships" id="263" r:id="Rbddf46a713b34e28"/>
    <p:sldId xmlns:r="http://schemas.openxmlformats.org/officeDocument/2006/relationships" id="264" r:id="R83d61175b7954c79"/>
    <p:sldId xmlns:r="http://schemas.openxmlformats.org/officeDocument/2006/relationships" id="265" r:id="R7435affc5ad945e0"/>
    <p:sldId xmlns:r="http://schemas.openxmlformats.org/officeDocument/2006/relationships" id="266" r:id="R28dff7f21a3d4557"/>
    <p:sldId xmlns:r="http://schemas.openxmlformats.org/officeDocument/2006/relationships" id="267" r:id="R687e0ecd325d4f11"/>
    <p:sldId xmlns:r="http://schemas.openxmlformats.org/officeDocument/2006/relationships" id="268" r:id="R23f8d3c3883f407f"/>
    <p:sldId xmlns:r="http://schemas.openxmlformats.org/officeDocument/2006/relationships" id="269" r:id="R9b0d59c54b604d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2120f61e14d72" /><Relationship Type="http://schemas.openxmlformats.org/officeDocument/2006/relationships/slideMaster" Target="/ppt/slideMasters/slideMaster1.xml" Id="Re41ab107fd67460f" /><Relationship Type="http://schemas.openxmlformats.org/officeDocument/2006/relationships/notesMaster" Target="/ppt/notesMasters/notesMaster1.xml" Id="R031bc5b1d6c64003" /><Relationship Type="http://schemas.openxmlformats.org/officeDocument/2006/relationships/presProps" Target="/ppt/presProps.xml" Id="R5bf2276f6d8e460a" /><Relationship Type="http://schemas.openxmlformats.org/officeDocument/2006/relationships/tableStyles" Target="/ppt/tableStyles.xml" Id="R988a54b4141740db" /><Relationship Type="http://schemas.openxmlformats.org/officeDocument/2006/relationships/slide" Target="/ppt/slides/slide1.xml" Id="R8d2b5c345cf8457d" /><Relationship Type="http://schemas.openxmlformats.org/officeDocument/2006/relationships/slide" Target="/ppt/slides/slide2.xml" Id="R6ca33c518c4143fa" /><Relationship Type="http://schemas.openxmlformats.org/officeDocument/2006/relationships/slide" Target="/ppt/slides/slide3.xml" Id="R14b77e82a3ec4450" /><Relationship Type="http://schemas.openxmlformats.org/officeDocument/2006/relationships/slide" Target="/ppt/slides/slide4.xml" Id="R3efa911c0b164e65" /><Relationship Type="http://schemas.openxmlformats.org/officeDocument/2006/relationships/slide" Target="/ppt/slides/slide5.xml" Id="Rc2a7b5a5bcc74030" /><Relationship Type="http://schemas.openxmlformats.org/officeDocument/2006/relationships/slide" Target="/ppt/slides/slide6.xml" Id="R0c2d7fc2f2954530" /><Relationship Type="http://schemas.openxmlformats.org/officeDocument/2006/relationships/slide" Target="/ppt/slides/slide7.xml" Id="Rb7543d5182664438" /><Relationship Type="http://schemas.openxmlformats.org/officeDocument/2006/relationships/slide" Target="/ppt/slides/slide8.xml" Id="Rbddf46a713b34e28" /><Relationship Type="http://schemas.openxmlformats.org/officeDocument/2006/relationships/slide" Target="/ppt/slides/slide9.xml" Id="R83d61175b7954c79" /><Relationship Type="http://schemas.openxmlformats.org/officeDocument/2006/relationships/slide" Target="/ppt/slides/slide10.xml" Id="R7435affc5ad945e0" /><Relationship Type="http://schemas.openxmlformats.org/officeDocument/2006/relationships/slide" Target="/ppt/slides/slide11.xml" Id="R28dff7f21a3d4557" /><Relationship Type="http://schemas.openxmlformats.org/officeDocument/2006/relationships/slide" Target="/ppt/slides/slide12.xml" Id="R687e0ecd325d4f11" /><Relationship Type="http://schemas.openxmlformats.org/officeDocument/2006/relationships/slide" Target="/ppt/slides/slide13.xml" Id="R23f8d3c3883f407f" /><Relationship Type="http://schemas.openxmlformats.org/officeDocument/2006/relationships/slide" Target="/ppt/slides/slide14.xml" Id="R9b0d59c54b60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c74aaac821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4ac48f7b94216" /><Relationship Type="http://schemas.openxmlformats.org/officeDocument/2006/relationships/notesMaster" Target="/ppt/notesMasters/notesMaster1.xml" Id="R39a45672bfa5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4b62339514fd7" /><Relationship Type="http://schemas.openxmlformats.org/officeDocument/2006/relationships/notesMaster" Target="/ppt/notesMasters/notesMaster1.xml" Id="Re5d15fac2c6f4e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0af25f16443de" /><Relationship Type="http://schemas.openxmlformats.org/officeDocument/2006/relationships/notesMaster" Target="/ppt/notesMasters/notesMaster1.xml" Id="R7337942a466e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0f944d5734af5" /><Relationship Type="http://schemas.openxmlformats.org/officeDocument/2006/relationships/notesMaster" Target="/ppt/notesMasters/notesMaster1.xml" Id="Rfbcdd65ae97440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32737a08447a9" /><Relationship Type="http://schemas.openxmlformats.org/officeDocument/2006/relationships/notesMaster" Target="/ppt/notesMasters/notesMaster1.xml" Id="R718a2926fd10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0ff6b75894bfb" /><Relationship Type="http://schemas.openxmlformats.org/officeDocument/2006/relationships/notesMaster" Target="/ppt/notesMasters/notesMaster1.xml" Id="Redbbeba0f7ce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3196d58ac84823" /><Relationship Type="http://schemas.openxmlformats.org/officeDocument/2006/relationships/notesMaster" Target="/ppt/notesMasters/notesMaster1.xml" Id="Rd510c798852c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ac674f6bd4f57" /><Relationship Type="http://schemas.openxmlformats.org/officeDocument/2006/relationships/notesMaster" Target="/ppt/notesMasters/notesMaster1.xml" Id="R0957115bf2ef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f9885c3e3a4135" /><Relationship Type="http://schemas.openxmlformats.org/officeDocument/2006/relationships/notesMaster" Target="/ppt/notesMasters/notesMaster1.xml" Id="R58579ca70d49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f7e66569fa4f81" /><Relationship Type="http://schemas.openxmlformats.org/officeDocument/2006/relationships/notesMaster" Target="/ppt/notesMasters/notesMaster1.xml" Id="Rf6a9ffc3ea5141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2f9820f6634eb9" /><Relationship Type="http://schemas.openxmlformats.org/officeDocument/2006/relationships/notesMaster" Target="/ppt/notesMasters/notesMaster1.xml" Id="R273ea04388864d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e3755b25e94762" /><Relationship Type="http://schemas.openxmlformats.org/officeDocument/2006/relationships/notesMaster" Target="/ppt/notesMasters/notesMaster1.xml" Id="R2b4ff1731ac649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d9b50903134ff7" /><Relationship Type="http://schemas.openxmlformats.org/officeDocument/2006/relationships/notesMaster" Target="/ppt/notesMasters/notesMaster1.xml" Id="R45f31605243040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f6a09a1dcb441a" /><Relationship Type="http://schemas.openxmlformats.org/officeDocument/2006/relationships/notesMaster" Target="/ppt/notesMasters/notesMaster1.xml" Id="R047a8664b52e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actual team members. State the project purpose: a traceable state briefing workflow. This presentation uses run 982d7cbfcc4474d3. The final submission also requires a recorded video and genuine individual contribution/lab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0:00–1:15. Explain who the tool is for and what they take away. User benefit is a hypothesis until the pilot is conducted.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1:15–2:30. Explain financial-year start labels. Vehicle stock is associated with the FY starting in its published calendar year as an approximation. Source download dates were not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2:30–4:00. Walk through source, analysis and serving layers. The structural quality gate occurs before database publication. The two interfaces share briefing calculations and run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4:00–5:00. Establish progress against the team's actual Assessment 2 submission. The earlier inspected Git checkout is an implementation comparison, not evidence of Assessment 2 submission contents.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5:00–8:30. Switch to the live dashboard. Select NSW FY2016-17 to FY2023-24, then change total to per-person view, inspect peers/table, export both files, and open the briefing. Return here if the live view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8:30–9:30. Explain the chronological split. Method selection uses earlier rolling origins. Holdout performance is reported after selection, and the operational model refits using all available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9:30–10:30. Lower MAPE is better. Earlier rolling selection favored Holt-Winters in this snapshot, but the final holdout does not show uniform improvement. Do not claim that ML necessarily helps.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10:30–11:30. Show the live outlook alongside these numbers. Bands are horizon-specific earlier absolute-error quantiles. They do not guarantee coverage. The sales cutoff precedes today, so some outlook months are already past.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11:30–13:00. Annual regression uses actual same-year covariates, while previous-year emissions only uses earlier values. This is an association benchmark, not a like-for-like forecast comparison. Show per-state errors in Methods; pooled R2 hides smaller-state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13:00–14:30. Demonstrate that negative findings are not hidden. The signed diagnostic exceeds the official inventory in 93 of 98 state-years; simple fuel factors do not establish a conversion. Missing population/products and interrupted loads have regression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14:30–16:00. Show the completed build and current test result, then compare static run, API health and database metadata. A local run does not prove remote CI executed. The exact same inputs and relevant code determine the displayed run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16:00–17:30. No participant results have been collected. Explain the counterbalanced pilot with identical data available in each condition. Student proxies and a small sample limit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17:30–19:00. Explain what is necessary for a credible useful final project. Keep scope focused. Conclude with the intended analyst task and what is actually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snapshot: 982d7cbfcc4474d3; built 2026-10-03T10:38:50.605958+00:00</a:t>
            </a:r>
          </a:p>
          <a:p xmlns:a="http://schemas.openxmlformats.org/drawingml/2006/main">
            <a:r>
              <a:t>Sources: https://www.abs.gov.au/statistics/people/population/national-state-and-territory-population/latest-release</a:t>
            </a:r>
          </a:p>
          <a:p xmlns:a="http://schemas.openxmlformats.org/drawingml/2006/main">
            <a:r>
              <a:t>https://www.bitre.gov.au/sites/default/files/documents/bitre-yearbook-2025.pdf</a:t>
            </a:r>
          </a:p>
          <a:p xmlns:a="http://schemas.openxmlformats.org/drawingml/2006/main">
            <a:r>
              <a:t>https://www.energy.gov.au/energy-data/australian-petroleum-statistics</a:t>
            </a:r>
          </a:p>
          <a:p xmlns:a="http://schemas.openxmlformats.org/drawingml/2006/main">
            <a:r>
              <a:t>https://www.dcceew.gov.au/climate-change/publications/national-greenhouse-gas-inventory-quarterly-updates</a:t>
            </a:r>
          </a:p>
          <a:p xmlns:a="http://schemas.openxmlformats.org/drawingml/2006/main">
            <a:r>
              <a:t>https://www.dcceew.gov.au/climate-change/publications/national-greenhouse-accounts/state-and-territory-greenhouse-gas-inventories-data-tables-methodology</a:t>
            </a:r>
          </a:p>
          <a:p xmlns:a="http://schemas.openxmlformats.org/drawingml/2006/main">
            <a:r>
              <a:t>https://www.dcceew.gov.au/climate-change/publications/national-greenhouse-accounts-factors-2025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361e7f3c644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d098f923545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302bf9b7848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7aa514f3043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756ca28144b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be803ff25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5A000A-B985-49F8-8D8D-DA4A9CF4D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EE86AA-3907-4B81-97E1-3DFEF8161E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9FC941-C2FB-47CC-872B-77B71809E4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9A9DC-9101-4470-95D4-3EB7E301F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9490A4-2647-4CA3-B46C-A5C7A1C8A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7466EC-7E25-4373-AC0C-2EE35ED40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A6F170-8A40-4CB8-BE22-1F0A1CCCE5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04C33C-4E39-47DC-B967-C6E263932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2B26B3-2B69-48B3-A261-7A267A472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7B9E46-BF34-4457-9477-1FB27F7C2C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404ce3ee44b5e" /><Relationship Type="http://schemas.openxmlformats.org/officeDocument/2006/relationships/slideLayout" Target="/ppt/slideLayouts/slideLayout1.xml" Id="Rbfc9ca3a76f54353" /><Relationship Type="http://schemas.openxmlformats.org/officeDocument/2006/relationships/slideLayout" Target="/ppt/slideLayouts/slideLayout2.xml" Id="R14acabbb765b44ca" /><Relationship Type="http://schemas.openxmlformats.org/officeDocument/2006/relationships/slideLayout" Target="/ppt/slideLayouts/slideLayout3.xml" Id="R6b4075967e664781" /><Relationship Type="http://schemas.openxmlformats.org/officeDocument/2006/relationships/slideLayout" Target="/ppt/slideLayouts/slideLayout4.xml" Id="Rda910ec950704b8d" /><Relationship Type="http://schemas.openxmlformats.org/officeDocument/2006/relationships/slideLayout" Target="/ppt/slideLayouts/slideLayout5.xml" Id="R11c8faf3a4f142e6" /><Relationship Type="http://schemas.openxmlformats.org/officeDocument/2006/relationships/slideLayout" Target="/ppt/slideLayouts/slideLayout6.xml" Id="Rc7c32f783a4541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9ca3a76f54353"/>
    <p:sldLayoutId xmlns:r="http://schemas.openxmlformats.org/officeDocument/2006/relationships" id="2147483650" r:id="R14acabbb765b44ca"/>
    <p:sldLayoutId xmlns:r="http://schemas.openxmlformats.org/officeDocument/2006/relationships" id="2147483651" r:id="R6b4075967e664781"/>
    <p:sldLayoutId xmlns:r="http://schemas.openxmlformats.org/officeDocument/2006/relationships" id="2147483652" r:id="Rda910ec950704b8d"/>
    <p:sldLayoutId xmlns:r="http://schemas.openxmlformats.org/officeDocument/2006/relationships" id="2147483653" r:id="R11c8faf3a4f142e6"/>
    <p:sldLayoutId xmlns:r="http://schemas.openxmlformats.org/officeDocument/2006/relationships" id="2147483654" r:id="Rc7c32f783a4541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db779931f449c" /><Relationship Type="http://schemas.openxmlformats.org/officeDocument/2006/relationships/notesSlide" Target="/ppt/notesSlides/notesSlide1.xml" Id="Rcd9b11fe71c7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9d2a2d3f14993" /><Relationship Type="http://schemas.openxmlformats.org/officeDocument/2006/relationships/notesSlide" Target="/ppt/notesSlides/notesSlide2.xml" Id="R7ab7ea122af449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3d34182f44a3f" /><Relationship Type="http://schemas.openxmlformats.org/officeDocument/2006/relationships/notesSlide" Target="/ppt/notesSlides/notesSlide3.xml" Id="R42d72746ccd64f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2fce88f24458c" /><Relationship Type="http://schemas.openxmlformats.org/officeDocument/2006/relationships/notesSlide" Target="/ppt/notesSlides/notesSlide4.xml" Id="Rf5fc969fc01a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ebe9d3b314032" /><Relationship Type="http://schemas.openxmlformats.org/officeDocument/2006/relationships/notesSlide" Target="/ppt/notesSlides/notesSlide5.xml" Id="R4cdbe73d7369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84aa54db9423d" /><Relationship Type="http://schemas.openxmlformats.org/officeDocument/2006/relationships/notesSlide" Target="/ppt/notesSlides/notesSlide6.xml" Id="R9c35e3f57ae6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a3108f7b747e1" /><Relationship Type="http://schemas.openxmlformats.org/officeDocument/2006/relationships/notesSlide" Target="/ppt/notesSlides/notesSlide7.xml" Id="Rc93fa81c736c4d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a566b4c294b97" /><Relationship Type="http://schemas.openxmlformats.org/officeDocument/2006/relationships/notesSlide" Target="/ppt/notesSlides/notesSlide8.xml" Id="R53d89014c9fb40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5a5d38c874d68" /><Relationship Type="http://schemas.openxmlformats.org/officeDocument/2006/relationships/notesSlide" Target="/ppt/notesSlides/notesSlide9.xml" Id="Rd0eb0266f95946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7f2401bd64879" /><Relationship Type="http://schemas.openxmlformats.org/officeDocument/2006/relationships/chart" Target="/ppt/slides/charts/chart1.xml" Id="R13917b374d99460f" /><Relationship Type="http://schemas.openxmlformats.org/officeDocument/2006/relationships/notesSlide" Target="/ppt/notesSlides/notesSlide10.xml" Id="R162391edd33d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3328041dc4e12" /><Relationship Type="http://schemas.openxmlformats.org/officeDocument/2006/relationships/notesSlide" Target="/ppt/notesSlides/notesSlide11.xml" Id="Raabefc685f704b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2c25e376e4385" /><Relationship Type="http://schemas.openxmlformats.org/officeDocument/2006/relationships/notesSlide" Target="/ppt/notesSlides/notesSlide12.xml" Id="Rce2e121f90694e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f01e2b6da4d31" /><Relationship Type="http://schemas.openxmlformats.org/officeDocument/2006/relationships/notesSlide" Target="/ppt/notesSlides/notesSlide13.xml" Id="Rb324c57d78d040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35ed1d4f44aaa" /><Relationship Type="http://schemas.openxmlformats.org/officeDocument/2006/relationships/notesSlide" Target="/ppt/notesSlides/notesSlide14.xml" Id="R5681d7b0aaec4a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Chronological MAE (kt CO2-e)</c:v>
          </c:tx>
          <c:spPr>
            <a:solidFill xmlns:a="http://schemas.openxmlformats.org/drawingml/2006/main">
              <a:srgbClr val="126D72"/>
            </a:solidFill>
          </c:spPr>
          <c:cat>
            <c:strRef>
              <c:f>'Chart Data'!$A$2:$A$4</c:f>
              <c:strCache>
                <c:ptCount val="3"/>
                <c:pt idx="0">
                  <c:v>Previous year</c:v>
                </c:pt>
                <c:pt idx="1">
                  <c:v>Linear regression</c:v>
                </c:pt>
                <c:pt idx="2">
                  <c:v>Random forest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494.1</c:v>
                </c:pt>
                <c:pt idx="1">
                  <c:v>541.88</c:v>
                </c:pt>
                <c:pt idx="2">
                  <c:v>563.22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232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MAE (kt CO2-e)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78CB8-35FF-46C7-8976-F235D90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Australian transport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DE3C-E3CE-49C9-A4F2-E6746A8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D7E8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7E8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8E8"/>
                </a:solidFill>
                <a:latin typeface="Arial"/>
                <a:ea typeface="Arial"/>
                <a:cs typeface="Arial"/>
              </a:rPr>
              <a:t>PRT661 · Assessment 3</a:t>
            </a:r>
          </a:p>
          <a:p xmlns:a="http://schemas.openxmlformats.org/drawingml/2006/main">
            <a:pPr>
              <a:defRPr sz="2250" b="0">
                <a:solidFill>
                  <a:srgbClr val="D7E8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8E8"/>
                </a:solidFill>
                <a:latin typeface="Arial"/>
                <a:ea typeface="Arial"/>
                <a:cs typeface="Arial"/>
              </a:rPr>
              <a:t>Technical demonstration · 3 October 2026</a:t>
            </a:r>
          </a:p>
        </p:txBody>
      </p:sp>
    </p:spTree>
    <p:extLst>
      <p:ext uri="{BB962C8B-B14F-4D97-AF65-F5344CB8AC3E}">
        <p14:creationId xmlns:p14="http://schemas.microsoft.com/office/powerpoint/2010/main" val="219473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B6F59-187A-4F0F-90FF-6CEC4A81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User task and 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C6B43-AF1E-43D2-AA87-DC94F476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D560-7332-489F-9938-E1588148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Prepare an initial state transport evidence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B789C-457B-4A66-81F4-D0CB4CAF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Compare total change, per-person change and peers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0FE1-A769-4A25-86A0-AB5CEDF4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Inspect a separately evaluated fuel-sales 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3B809-7FE8-4EEA-BD75-4D93138F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Export a briefing with sources, dates and interpretation limits</a:t>
            </a:r>
          </a:p>
        </p:txBody>
      </p:sp>
    </p:spTree>
    <p:extLst>
      <p:ext uri="{BB962C8B-B14F-4D97-AF65-F5344CB8AC3E}">
        <p14:creationId xmlns:p14="http://schemas.microsoft.com/office/powerpoint/2010/main" val="1491371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1104D-358A-4ACF-830D-714161C7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Data scope and observation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3CDEC-5139-4E72-88FE-460981E7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677AC-8F66-41A9-BC67-BAF68DF6EB6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857750"/>
                <a:gridCol w="300990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cutoff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Official inventory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Whole transport sector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FY2023-24</a:t>
                      </a:r>
                    </a:p>
                  </a:txBody>
                  <a:tcPr marL="114300" marR="114300" marT="76200" marB="762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Petrol + total diesel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SALES; includes non-road use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June 2026</a:t>
                      </a:r>
                    </a:p>
                  </a:txBody>
                  <a:tcPr marL="114300" marR="114300" marT="76200" marB="762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Historical vehicle stock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BITRE calendar-year stock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Matched FY start label</a:t>
                      </a:r>
                    </a:p>
                  </a:txBody>
                  <a:tcPr marL="114300" marR="114300" marT="76200" marB="7620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Per-capita comparison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Mean of four population quarters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Seven jurisdictions; ACT excluded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10AAE-A7B2-49FB-B5B8-CA18189D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6D72"/>
                </a:solidFill>
                <a:latin typeface="Arial"/>
                <a:ea typeface="Arial"/>
                <a:cs typeface="Arial"/>
              </a:rPr>
              <a:t>98 annual rows · 1,344 monthly sales observations</a:t>
            </a:r>
          </a:p>
        </p:txBody>
      </p:sp>
    </p:spTree>
    <p:extLst>
      <p:ext uri="{BB962C8B-B14F-4D97-AF65-F5344CB8AC3E}">
        <p14:creationId xmlns:p14="http://schemas.microsoft.com/office/powerpoint/2010/main" val="344915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DC78-93C5-4D9B-827D-208DEE2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Updated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4F436-A04C-49A8-9381-0DC30E1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915E7-448E-46F5-A7F1-E826A0C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Government workbooks → source manifest and file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5448B-655A-4E90-ACF2-8C25859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Silver typed tables → Gold state/year and monthly tables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5B6FB-52EA-4231-A621-9991B781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Chronological evaluation → reconciliation → run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FD74-E8BF-4662-9FA1-9725B087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Quality gate → transactional SQLite publication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DAD2-D213-4F53-A1AD-A341CFE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Shared briefing logic → static dashboard / Streamlit / API</a:t>
            </a:r>
          </a:p>
        </p:txBody>
      </p:sp>
    </p:spTree>
    <p:extLst>
      <p:ext uri="{BB962C8B-B14F-4D97-AF65-F5344CB8AC3E}">
        <p14:creationId xmlns:p14="http://schemas.microsoft.com/office/powerpoint/2010/main" val="205299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6F99A-2282-4F63-A16A-B0BC2BD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Delivered in this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17766-EBBD-4FBF-833B-CCA3892A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376EE-C183-45B2-ACBE-AC78E7478BC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581650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inspected code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implementation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Snapshot vehicle count across years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Historical BITRE stock by state/year</a:t>
                      </a:r>
                    </a:p>
                  </a:txBody>
                  <a:tcPr marL="114300" marR="114300" marT="76200" marB="762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Shuffled annual folds; no baseline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Whole-year folds and previous-year benchmark</a:t>
                      </a:r>
                    </a:p>
                  </a:txBody>
                  <a:tcPr marL="114300" marR="114300" marT="76200" marB="762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Baked dashboard; no complete export task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State/period comparison and cited exports</a:t>
                      </a:r>
                    </a:p>
                  </a:txBody>
                  <a:tcPr marL="114300" marR="114300" marT="76200" marB="762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Missing forecast/build contract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Held-out predictions, after-cutoff outlook and bands</a:t>
                      </a:r>
                    </a:p>
                  </a:txBody>
                  <a:tcPr marL="114300" marR="114300" marT="76200" marB="762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Quality checks after DB loading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Completeness gate before atomic publication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88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27E6-5676-4E8E-9A1E-7DF855E6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Live demonstration: a complete NSW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667FF-E558-402F-932C-CAB81057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19CB-0FC6-4CCF-8AEF-6914CCA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D72"/>
                </a:solidFill>
                <a:latin typeface="Arial"/>
                <a:ea typeface="Arial"/>
                <a:cs typeface="Arial"/>
              </a:rPr>
              <a:t>NSW · FY2016-17 → FY2023-24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9F3B2-7F1D-4B6F-B89B-22096454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26,960.6 kt CO2-e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34D28-F6C3-4241-BD7D-28361BB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Total change -1.20%   |   Per-person change -8.69%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8A2CD-88D0-49A0-9247-831BA588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End-year per person: 3,189.37 kg CO2-e</a:t>
            </a:r>
          </a:p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Export the evidence, sources, limits and run identifier</a:t>
            </a:r>
          </a:p>
        </p:txBody>
      </p:sp>
    </p:spTree>
    <p:extLst>
      <p:ext uri="{BB962C8B-B14F-4D97-AF65-F5344CB8AC3E}">
        <p14:creationId xmlns:p14="http://schemas.microsoft.com/office/powerpoint/2010/main" val="1178027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159ED-A988-40DB-B476-EA258E8D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Forecast selection and the final holdout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3E4C9-8CC6-4311-B911-B5A167A5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F71F0-E4A1-4728-8F01-3369F9A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Training starts with 60 months; horizons and steps are six months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1C442-66C6-4C1B-B0E0-7EE4AE31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21 earlier rolling windows compare seasonal naive and Holt-Winters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4DE56-CF7F-4041-A3A4-EE70B481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Final January–June 2026 observations are held out of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F5196-751C-46E5-91C4-D9F7954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Refit all observations → July–December 2026 sales outlook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2535D-1507-46B0-8C61-C43D2B53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Report a same-holdout baseline without reselecting on that test</a:t>
            </a:r>
          </a:p>
        </p:txBody>
      </p:sp>
    </p:spTree>
    <p:extLst>
      <p:ext uri="{BB962C8B-B14F-4D97-AF65-F5344CB8AC3E}">
        <p14:creationId xmlns:p14="http://schemas.microsoft.com/office/powerpoint/2010/main" val="62506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D5A05-C4B3-49B5-9A71-069E0813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Final holdout performance by jurisdiction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206DD-D3AE-47B7-AB6E-34302913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E4B68-F426-463A-9FDC-C5627954E017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905250"/>
                <a:gridCol w="2647950"/>
                <a:gridCol w="2647950"/>
              </a:tblGrid>
              <a:tr h="49410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method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MAPE %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Naive MAPE %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NSW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3.84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3.09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NT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12.92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16.32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QLD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5.68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4.63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SA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4.53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4.53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TAS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4.71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5.89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VIC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3.45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3.65</a:t>
                      </a:r>
                    </a:p>
                  </a:txBody>
                  <a:tcPr marL="114300" marR="114300" marT="76200" marB="76200"/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WA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Holt-Winters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2.71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4.46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EBF8E-8660-4920-86EC-3408CBB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9962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9962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9621D"/>
                </a:solidFill>
                <a:latin typeface="Arial"/>
                <a:ea typeface="Arial"/>
                <a:cs typeface="Arial"/>
              </a:rPr>
              <a:t>Earlier-window selection can underperform a simple baseline on new months</a:t>
            </a:r>
          </a:p>
        </p:txBody>
      </p:sp>
    </p:spTree>
    <p:extLst>
      <p:ext uri="{BB962C8B-B14F-4D97-AF65-F5344CB8AC3E}">
        <p14:creationId xmlns:p14="http://schemas.microsoft.com/office/powerpoint/2010/main" val="1131942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C1BA0-5669-459D-8CB5-F2CF9CA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NSW outlook and empirical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9D434-3B47-47CF-B6C2-960B339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4DE4E-2D52-4FFE-9BC6-9805F5FEC5E8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200650"/>
              </a:tblGrid>
              <a:tr h="48305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 ML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Approximate 95% band ML</a:t>
                      </a:r>
                    </a:p>
                  </a:txBody>
                  <a:tcPr marL="114300" marR="114300" marT="76200" marB="76200">
                    <a:solidFill>
                      <a:srgbClr val="126D72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2026-07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1062.0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1004.2 to 1119.8</a:t>
                      </a:r>
                    </a:p>
                  </a:txBody>
                  <a:tcPr marL="114300" marR="114300" marT="76200" marB="76200"/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2026-08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1070.9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1029.8 to 1112.0</a:t>
                      </a:r>
                    </a:p>
                  </a:txBody>
                  <a:tcPr marL="114300" marR="114300" marT="76200" marB="76200"/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2026-09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1048.0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968.3 to 1127.7</a:t>
                      </a:r>
                    </a:p>
                  </a:txBody>
                  <a:tcPr marL="114300" marR="114300" marT="76200" marB="76200"/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2026-10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1090.5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972.4 to 1208.6</a:t>
                      </a:r>
                    </a:p>
                  </a:txBody>
                  <a:tcPr marL="114300" marR="114300" marT="76200" marB="76200"/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2026-11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1109.7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1020.0 to 1199.4</a:t>
                      </a:r>
                    </a:p>
                  </a:txBody>
                  <a:tcPr marL="114300" marR="114300" marT="76200" marB="76200"/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2026-12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1111.7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32F"/>
                          </a:solidFill>
                          <a:latin typeface="Arial"/>
                          <a:ea typeface="Arial"/>
                          <a:cs typeface="Arial"/>
                        </a:rPr>
                        <a:t>1045.1 to 1178.3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C77DC-C426-415D-B76B-A160B037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9962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962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9621D"/>
                </a:solidFill>
                <a:latin typeface="Arial"/>
                <a:ea typeface="Arial"/>
                <a:cs typeface="Arial"/>
              </a:rPr>
              <a:t>95% band held-out coverage: 83.33% over six months only</a:t>
            </a:r>
          </a:p>
          <a:p xmlns:a="http://schemas.openxmlformats.org/drawingml/2006/main">
            <a:pPr>
              <a:defRPr sz="2025" b="0">
                <a:solidFill>
                  <a:srgbClr val="9962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9621D"/>
                </a:solidFill>
                <a:latin typeface="Arial"/>
                <a:ea typeface="Arial"/>
                <a:cs typeface="Arial"/>
              </a:rPr>
              <a:t>This is a sales outlook, not an emissions or policy-effect forecast</a:t>
            </a:r>
          </a:p>
        </p:txBody>
      </p:sp>
    </p:spTree>
    <p:extLst>
      <p:ext uri="{BB962C8B-B14F-4D97-AF65-F5344CB8AC3E}">
        <p14:creationId xmlns:p14="http://schemas.microsoft.com/office/powerpoint/2010/main" val="157001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0503E-FC4F-46F9-A490-2E942AB4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The previous-year annual benchmark is stronger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42121-CB45-4D68-8A91-F2A0C41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2C97BAF-49EA-486B-B97B-8AEEDA4F22D8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69532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917b374d99460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C034-8FB2-411A-96B1-5B35A5EE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52625"/>
            <a:ext cx="3476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Lower error is better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High R² does not establish causation or useful intervention estimates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69B3-94A2-47C2-BE6B-2AC4A8E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9962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99621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9621D"/>
                </a:solidFill>
                <a:latin typeface="Arial"/>
                <a:ea typeface="Arial"/>
                <a:cs typeface="Arial"/>
              </a:rPr>
              <a:t>Contemporaneous regressors are not available in advance for a true future forecast</a:t>
            </a:r>
          </a:p>
        </p:txBody>
      </p:sp>
    </p:spTree>
    <p:extLst>
      <p:ext uri="{BB962C8B-B14F-4D97-AF65-F5344CB8AC3E}">
        <p14:creationId xmlns:p14="http://schemas.microsoft.com/office/powerpoint/2010/main" val="779281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ECCDA-99F8-4CF9-B5FD-9ACACBB4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Technical challenges and current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73D44-6F43-447B-AD4F-63D5920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9E0B8-2862-4046-9F16-BC5957CD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Historical stock and financial-year alignment → corrected and disclosed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F7927-EDDB-4038-9216-9C85E2E2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Incomplete population quarters / fuel products → rejected before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29C1C-184D-4D05-8BE6-F47A44B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Interrupted database replacement → previous snapshot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4DD6C-BA7C-4FA4-91A9-127143F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Fuel-times-factor discrepancy → still unresolved, about 29.71% mean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1EC08-4DD3-4E7C-8C23-0977BC88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Distribution drift ≠ data correctness, model accuracy or policy effects</a:t>
            </a:r>
          </a:p>
        </p:txBody>
      </p:sp>
    </p:spTree>
    <p:extLst>
      <p:ext uri="{BB962C8B-B14F-4D97-AF65-F5344CB8AC3E}">
        <p14:creationId xmlns:p14="http://schemas.microsoft.com/office/powerpoint/2010/main" val="1155136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A2C02-F129-4D78-926F-D50B9A38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Reproduction and implementation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4B27B-EEB8-42F2-BE93-1751491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E8A19-DBF2-4990-AC6B-20492CE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26D7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6D72"/>
                </a:solidFill>
                <a:latin typeface="Arial"/>
                <a:ea typeface="Arial"/>
                <a:cs typeface="Arial"/>
              </a:rPr>
              <a:t>One command rebuilds analysis, warehouse, interfaces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3AE07-820A-4570-93DB-0E7A368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Locked Python dependencies and tracked government workbooks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8C048-81F2-4B88-AF8D-E9A0E2FF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Core data/model hashes checked before loading and dashboard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0E42A-9E67-4F9B-A423-C15BC0F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Tests cover chronology, input rejection, completeness and rollback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6464-9E8F-4EBB-96D5-24D6E6E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CI workflow is restored under .github/workflows/ci.yml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8E802-2955-4D34-85B6-C843C900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Current run: 982d7cbfcc4474d3</a:t>
            </a:r>
          </a:p>
        </p:txBody>
      </p:sp>
    </p:spTree>
    <p:extLst>
      <p:ext uri="{BB962C8B-B14F-4D97-AF65-F5344CB8AC3E}">
        <p14:creationId xmlns:p14="http://schemas.microsoft.com/office/powerpoint/2010/main" val="18073734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0E871-375A-424F-B4BB-5EC266F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Planned test of actual user benefit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2148E-51EB-4E7A-86A9-A2D7471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EDF6-0194-4974-846A-A0EAF4E4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6–8 volunteers complete equivalent NSW / WA briefing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65F5F-31FB-44E8-820A-30AE939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Compare integrated tool with separate files using the same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2FB86-4703-4F8D-BB05-AB2509D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Alternate order; record time, completion, errors and help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D627D-BAA4-49FF-B1FA-E136A4E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Pilot targets: 80% completion and 30% median paired time reduction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D698-C996-42E4-B157-40EF832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No increase in critical interpretation errors; report negative outcomes</a:t>
            </a:r>
          </a:p>
        </p:txBody>
      </p:sp>
    </p:spTree>
    <p:extLst>
      <p:ext uri="{BB962C8B-B14F-4D97-AF65-F5344CB8AC3E}">
        <p14:creationId xmlns:p14="http://schemas.microsoft.com/office/powerpoint/2010/main" val="3922565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DCB15-3AEA-4FA6-B23A-29764DFD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F"/>
                </a:solidFill>
                <a:latin typeface="Arial"/>
                <a:ea typeface="Arial"/>
                <a:cs typeface="Arial"/>
              </a:rPr>
              <a:t>Work before Assessment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78E97-519A-4553-B775-5E7F4972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5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D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13D3-A874-4039-9100-2A45D6D1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Run the pilot and revise observed task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F80DC-0621-4EF2-BAFE-9566861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Investigate fuel / inventory boundaries before any conversion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62D15-010A-465E-9E60-811DCD71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Refresh sources and examine uncertainty under changing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91390-96A2-4257-9648-0ACAE1A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Retain genuine contribution records and reproducible run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8FADB-7DDA-408A-9E46-11A481B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32F"/>
                </a:solidFill>
                <a:latin typeface="Arial"/>
                <a:ea typeface="Arial"/>
                <a:cs typeface="Arial"/>
              </a:rPr>
              <a:t>Submit the ≤20-minute video and exact two-page individual summaries</a:t>
            </a:r>
          </a:p>
        </p:txBody>
      </p:sp>
    </p:spTree>
    <p:extLst>
      <p:ext uri="{BB962C8B-B14F-4D97-AF65-F5344CB8AC3E}">
        <p14:creationId xmlns:p14="http://schemas.microsoft.com/office/powerpoint/2010/main" val="1672773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2026-10-03T10:50:55.4670000Z</dcterms:created>
  <dcterms:modified xsi:type="dcterms:W3CDTF">2026-10-03T10:50:55.4670000Z</dcterms:modified>
</coreProperties>
</file>